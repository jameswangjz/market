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72554"/>
          </a:solidFill>
          <a:ln w="12700">
            <a:solidFill>
              <a:srgbClr val="1725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0"/>
            <a:ext cx="4327855" cy="713232"/>
          </a:xfrm>
          <a:prstGeom prst="rect">
            <a:avLst/>
          </a:prstGeom>
          <a:solidFill>
            <a:srgbClr val="1D4ED8">
              <a:alpha val="85000"/>
            </a:srgbClr>
          </a:solidFill>
          <a:ln w="12700">
            <a:solidFill>
              <a:srgbClr val="1D4ED8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18872"/>
            <a:ext cx="6583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数据集运营服务管理平台功能架构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429768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七类核心业务功能 + 平台服务、对外接口及基础设施等扩展支撑能力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692640" y="256032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DBEAF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当前平台功能视图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02920" y="886968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一、平台服务层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1078992"/>
            <a:ext cx="11183112" cy="658368"/>
          </a:xfrm>
          <a:prstGeom prst="roundRect">
            <a:avLst>
              <a:gd name="adj" fmla="val 11111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1188720"/>
            <a:ext cx="187452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3970">
            <a:solidFill>
              <a:srgbClr val="93C5FD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1188720"/>
            <a:ext cx="18745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122529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用户与企业服务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77824" y="1627632"/>
            <a:ext cx="1545336" cy="-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注册、实名认证、企业认证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成员、企业角色和邀请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24912" y="1188720"/>
            <a:ext cx="187452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3970">
            <a:solidFill>
              <a:srgbClr val="93C5FD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24912" y="1188720"/>
            <a:ext cx="18745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9504" y="122529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统一权限与多租户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89504" y="1627632"/>
            <a:ext cx="1545336" cy="-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企业主租户、平台 RBAC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数据隔离和操作授权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36592" y="1188720"/>
            <a:ext cx="187452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3970">
            <a:solidFill>
              <a:srgbClr val="93C5FD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36592" y="1188720"/>
            <a:ext cx="18745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22529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 API 网关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01184" y="1627632"/>
            <a:ext cx="1545336" cy="-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OAuth2、API Key、路由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限流、配额和调用统计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48272" y="1188720"/>
            <a:ext cx="187452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3970">
            <a:solidFill>
              <a:srgbClr val="93C5FD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48272" y="1188720"/>
            <a:ext cx="18745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12864" y="1225296"/>
            <a:ext cx="1545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通知与配置中心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12864" y="1627632"/>
            <a:ext cx="1545336" cy="-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短信/邮件、平台角色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消息通知和系统参数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759952" y="1188720"/>
            <a:ext cx="2633472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3970">
            <a:solidFill>
              <a:srgbClr val="93C5FD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759952" y="1188720"/>
            <a:ext cx="2633472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24544" y="1225296"/>
            <a:ext cx="23042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对外接口服务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924544" y="1627632"/>
            <a:ext cx="2304288" cy="-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接入连接器适配、资源发布与鉴权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回调、接口文档和审计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02920" y="185623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二、核心业务功能层（七类核心功能及扩展模块）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084832"/>
            <a:ext cx="356616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60A5FA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2920" y="2084832"/>
            <a:ext cx="3566160" cy="310896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" y="212140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数据及服务管理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" y="2523744"/>
            <a:ext cx="3236976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数据集、模型、API、SaaS、报告及咨询登记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目录、元数据、版本、价格和交付方式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产品审核、质量审核、安全合规和上架发布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API/SaaS 对接规范、OAuth 凭据和网关配置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67512" y="3145536"/>
            <a:ext cx="3236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面向数据/服务提供方与平台运营人员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315968" y="2084832"/>
            <a:ext cx="356616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8B5CF6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15968" y="2084832"/>
            <a:ext cx="3566160" cy="310896"/>
          </a:xfrm>
          <a:prstGeom prst="rect">
            <a:avLst/>
          </a:prstGeom>
          <a:solidFill>
            <a:srgbClr val="EDE9FE"/>
          </a:solidFill>
          <a:ln w="12700">
            <a:solidFill>
              <a:srgbClr val="EDE9FE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212140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订单管理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480560" y="2523744"/>
            <a:ext cx="3236976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购物车、订单创建、取消、支付单和人工确认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订单、支付、交付、售后四域状态机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订阅开通、续费、升级/降级及差价计算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退款、原路退回、订单授权和访问回收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480560" y="3145536"/>
            <a:ext cx="3236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面向已实名个人用户与企业租户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8129016" y="2084832"/>
            <a:ext cx="3557016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14B8A6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129016" y="2084832"/>
            <a:ext cx="3557016" cy="310896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93608" y="2121408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数据及服务交付管理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8293608" y="2523744"/>
            <a:ext cx="3227832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文件、对象存储、API、模型 API 交付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SaaS 租户开通、版本切换和权限开通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用户、部门与第三方 SaaS 系统同步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交付任务、验收确认、售后和状态跟踪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8293608" y="3145536"/>
            <a:ext cx="3227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支撑标准化、可追踪、可审计交付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02920" y="3593592"/>
            <a:ext cx="356616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502920" y="3593592"/>
            <a:ext cx="3566160" cy="310896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>
                <a:alpha val="0"/>
              </a:srgbClr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7512" y="363016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清算管理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667512" y="4032504"/>
            <a:ext cx="3236976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平台服务费、提供方和数据服务方分成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专家费、渠道费、税费等多方费用计算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订单支付、退款和分账追回/抵扣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清算单、台账、调整、锁定和复核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67512" y="4654296"/>
            <a:ext cx="3236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确保交易金额可计算、可核对、可追溯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4315968" y="3593592"/>
            <a:ext cx="356616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64748B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315968" y="3593592"/>
            <a:ext cx="3566160" cy="31089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0" y="3630168"/>
            <a:ext cx="3236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审计管理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480560" y="4032504"/>
            <a:ext cx="3236976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登录、认证、权限、产品和订单操作留痕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发布、凭据、交付、退款和清算审计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按租户、用户、资源和时间检索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异常访问、网关错误和告警关联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4480560" y="4654296"/>
            <a:ext cx="3236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形成业务、技术和安全合规证据链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8129016" y="3593592"/>
            <a:ext cx="3557016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3970">
            <a:solidFill>
              <a:srgbClr val="EC4899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8129016" y="3593592"/>
            <a:ext cx="3557016" cy="310896"/>
          </a:xfrm>
          <a:prstGeom prst="rect">
            <a:avLst/>
          </a:prstGeom>
          <a:solidFill>
            <a:srgbClr val="FCE7F3"/>
          </a:solidFill>
          <a:ln w="12700">
            <a:solidFill>
              <a:srgbClr val="FCE7F3">
                <a:alpha val="0"/>
              </a:srgbClr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93608" y="3630168"/>
            <a:ext cx="32278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运营平台服务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8293608" y="4032504"/>
            <a:ext cx="3227832" cy="640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平台运营、审核、质量、安全和交付角色协同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产品、订单、交付、清算和审计工作台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网关路由、版本、凭据和调用统计管理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任务进度控制台、配置中心和运营看板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8293608" y="4654296"/>
            <a:ext cx="32278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提供统一运营入口和业务协同能力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502920" y="510235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三、SLA 保障与基础设施层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02920" y="5330952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3970">
            <a:solidFill>
              <a:srgbClr val="86EFAC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502920" y="5330952"/>
            <a:ext cx="2743200" cy="310896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>
                <a:alpha val="0"/>
              </a:srgbClr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67512" y="5367528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SLA 保障功能</a:t>
            </a:r>
            <a:endParaRPr lang="en-US" sz="1300" dirty="0"/>
          </a:p>
        </p:txBody>
      </p:sp>
      <p:sp>
        <p:nvSpPr>
          <p:cNvPr id="64" name="Text 62"/>
          <p:cNvSpPr/>
          <p:nvPr/>
        </p:nvSpPr>
        <p:spPr>
          <a:xfrm>
            <a:off x="667512" y="5769864"/>
            <a:ext cx="24140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健康检查、可用性、错误率和延迟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限流、配额、超时、重试和统一错误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告警、灰度、回退和故障恢复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3456432" y="5330952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3970">
            <a:solidFill>
              <a:srgbClr val="86EFAC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66" name="Shape 64"/>
          <p:cNvSpPr/>
          <p:nvPr/>
        </p:nvSpPr>
        <p:spPr>
          <a:xfrm>
            <a:off x="3456432" y="5330952"/>
            <a:ext cx="2743200" cy="310896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>
                <a:alpha val="0"/>
              </a:srgbClr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21024" y="5367528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高可用与安全</a:t>
            </a:r>
            <a:endParaRPr lang="en-US" sz="1300" dirty="0"/>
          </a:p>
        </p:txBody>
      </p:sp>
      <p:sp>
        <p:nvSpPr>
          <p:cNvPr id="68" name="Text 66"/>
          <p:cNvSpPr/>
          <p:nvPr/>
        </p:nvSpPr>
        <p:spPr>
          <a:xfrm>
            <a:off x="3621024" y="5769864"/>
            <a:ext cx="24140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Kubernetes、APISIX 多副本和负载均衡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OAuth2、API Key、密码机和访问控制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Redis 共享缓存、网络隔离和安全策略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6409944" y="5330952"/>
            <a:ext cx="2743200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3970">
            <a:solidFill>
              <a:srgbClr val="86EFAC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70" name="Shape 68"/>
          <p:cNvSpPr/>
          <p:nvPr/>
        </p:nvSpPr>
        <p:spPr>
          <a:xfrm>
            <a:off x="6409944" y="5330952"/>
            <a:ext cx="2743200" cy="310896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>
                <a:alpha val="0"/>
              </a:srgbClr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574536" y="5367528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数据与存储支撑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6574536" y="5769864"/>
            <a:ext cx="2414016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PostgreSQL 业务和审计数据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MinIO 文件、数据集和交付对象存储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Redis 配额、Token 和分布式状态缓存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363456" y="5330952"/>
            <a:ext cx="2322576" cy="932688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 w="13970">
            <a:solidFill>
              <a:srgbClr val="86EFAC"/>
            </a:solidFill>
            <a:prstDash val="solid"/>
          </a:ln>
          <a:effectLst>
            <a:outerShdw sx="100000" sy="100000" kx="0" ky="0" algn="bl" rotWithShape="0" blurRad="25400" dist="50800" dir="2700000">
              <a:srgbClr val="172554">
                <a:alpha val="10000"/>
              </a:srgbClr>
            </a:outerShdw>
          </a:effectLst>
        </p:spPr>
      </p:sp>
      <p:sp>
        <p:nvSpPr>
          <p:cNvPr id="74" name="Shape 72"/>
          <p:cNvSpPr/>
          <p:nvPr/>
        </p:nvSpPr>
        <p:spPr>
          <a:xfrm>
            <a:off x="9363456" y="5330952"/>
            <a:ext cx="2322576" cy="310896"/>
          </a:xfrm>
          <a:prstGeom prst="rect">
            <a:avLst/>
          </a:prstGeom>
          <a:solidFill>
            <a:srgbClr val="F0FDF4"/>
          </a:solidFill>
          <a:ln w="12700">
            <a:solidFill>
              <a:srgbClr val="F0FDF4">
                <a:alpha val="0"/>
              </a:srgbClr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28048" y="5367528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监控与运营保障</a:t>
            </a:r>
            <a:endParaRPr lang="en-US" sz="1300" dirty="0"/>
          </a:p>
        </p:txBody>
      </p:sp>
      <p:sp>
        <p:nvSpPr>
          <p:cNvPr id="76" name="Text 74"/>
          <p:cNvSpPr/>
          <p:nvPr/>
        </p:nvSpPr>
        <p:spPr>
          <a:xfrm>
            <a:off x="9528048" y="5769864"/>
            <a:ext cx="1993392" cy="2743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Prometheus 指标、Alertmanager 告警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网关路由、发布、调用和运行日志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 SLA 报表、审计追踪和运维闭环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1645920" y="175564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3657600" y="175564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79" name="Shape 77"/>
          <p:cNvSpPr/>
          <p:nvPr/>
        </p:nvSpPr>
        <p:spPr>
          <a:xfrm>
            <a:off x="5669280" y="175564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680960" y="175564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0058400" y="1755648"/>
            <a:ext cx="0" cy="256032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4069080" y="2734056"/>
            <a:ext cx="21031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7882128" y="2734056"/>
            <a:ext cx="21031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4069080" y="4242816"/>
            <a:ext cx="21031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7882128" y="4242816"/>
            <a:ext cx="210312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1828800" y="489204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>
            <a:off x="5669280" y="489204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9875520" y="4892040"/>
            <a:ext cx="0" cy="36576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9" name="Text 87"/>
          <p:cNvSpPr/>
          <p:nvPr/>
        </p:nvSpPr>
        <p:spPr>
          <a:xfrm>
            <a:off x="3840480" y="6565392"/>
            <a:ext cx="4480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图：当前数据集运营服务管理平台功能架构图（可编辑版）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天地奔牛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数据集运营服务管理平台功能架构</dc:title>
  <dc:subject>数据集运营服务管理平台功能架构</dc:subject>
  <dc:creator>Codex</dc:creator>
  <cp:lastModifiedBy>Codex</cp:lastModifiedBy>
  <cp:revision>1</cp:revision>
  <dcterms:created xsi:type="dcterms:W3CDTF">2026-10-06T08:32:42Z</dcterms:created>
  <dcterms:modified xsi:type="dcterms:W3CDTF">2026-10-06T08:32:42Z</dcterms:modified>
</cp:coreProperties>
</file>