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E5FD"/>
    <a:srgbClr val="F0FDF4"/>
    <a:srgbClr val="FEF3C7"/>
    <a:srgbClr val="E2E8F0"/>
    <a:srgbClr val="FCE7F3"/>
    <a:srgbClr val="CCFBF1"/>
    <a:srgbClr val="EDE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4327855" cy="713232"/>
          </a:xfrm>
          <a:prstGeom prst="rect">
            <a:avLst/>
          </a:prstGeom>
          <a:solidFill>
            <a:srgbClr val="1D4ED8">
              <a:alpha val="8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"/>
            <a:ext cx="65836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数据集运营服务管理平台功能架构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七类核心业务功能 + 平台服务、对外接口及基础设施等扩展支撑能力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92640" y="256032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当前平台功能视图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886968"/>
            <a:ext cx="111556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一、平台服务层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11183112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188720"/>
            <a:ext cx="187452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3970">
            <a:solidFill>
              <a:srgbClr val="93C5FD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188720"/>
            <a:ext cx="1874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225296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用户与企业服务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" y="1408176"/>
            <a:ext cx="1545336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注册、实名认证、企业认证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成员、企业角色和邀请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24912" y="1188720"/>
            <a:ext cx="187452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3970">
            <a:solidFill>
              <a:srgbClr val="93C5FD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24912" y="1188720"/>
            <a:ext cx="1874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9504" y="1225296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统一权限与多租户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9504" y="1408176"/>
            <a:ext cx="1545336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企业主租户、平台 RBAC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数据隔离和操作授权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36592" y="1188720"/>
            <a:ext cx="187452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3970">
            <a:solidFill>
              <a:srgbClr val="93C5FD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36592" y="1188720"/>
            <a:ext cx="1874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1225296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 API 网关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01184" y="1408176"/>
            <a:ext cx="1545336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OAuth2、API Key、路由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限流、配额和调用统计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48272" y="1188720"/>
            <a:ext cx="187452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3970">
            <a:solidFill>
              <a:srgbClr val="93C5FD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48272" y="1188720"/>
            <a:ext cx="1874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2864" y="1225296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通知与配置中心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12864" y="1408176"/>
            <a:ext cx="1545336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短信/邮件、平台角色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消息通知和系统参数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759952" y="1188720"/>
            <a:ext cx="263347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3970">
            <a:solidFill>
              <a:srgbClr val="93C5FD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759952" y="1188720"/>
            <a:ext cx="263347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24544" y="1225296"/>
            <a:ext cx="230428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对外接口服务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24544" y="1408176"/>
            <a:ext cx="2304288" cy="219456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接入连接器适配、资源发布与鉴权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回调、接口文档和审计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1856232"/>
            <a:ext cx="111556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二、核心业务功能层（七类核心功能及扩展模块）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2084832"/>
            <a:ext cx="35661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3970">
            <a:solidFill>
              <a:srgbClr val="60A5FA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2084832"/>
            <a:ext cx="3566160" cy="31089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2121408"/>
            <a:ext cx="323697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数据及服务管理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" y="2523744"/>
            <a:ext cx="3236976" cy="64008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数据集、模型、API、SaaS、报告及咨询登记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目录、元数据、版本、价格和交付方式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产品审核、质量审核、安全合规和上架发布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API/SaaS 对接规范、OAuth 凭据和网关配置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7512" y="3145536"/>
            <a:ext cx="3236976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面向数据/服务提供方与平台运营人员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15968" y="2084832"/>
            <a:ext cx="35661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3970">
            <a:solidFill>
              <a:srgbClr val="8B5CF6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15968" y="2084832"/>
            <a:ext cx="3566160" cy="31089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2121408"/>
            <a:ext cx="323697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订单管理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480560" y="2523744"/>
            <a:ext cx="3236976" cy="64008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购物车、订单创建、取消、支付单和人工确认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订单、支付、交付、售后四域状态机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订阅开通、续费、升级/降级及差价计算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退款、原路退回、订单授权和访问回收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80560" y="3145536"/>
            <a:ext cx="3236976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面向已实名个人用户与企业租户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129016" y="2084832"/>
            <a:ext cx="3557016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29016" y="2084832"/>
            <a:ext cx="3557016" cy="31089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93608" y="2121408"/>
            <a:ext cx="322783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数据及服务交付管理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93608" y="2523744"/>
            <a:ext cx="3227832" cy="64008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文件、对象存储、API、模型 API 交付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SaaS 租户开通、版本切换和权限开通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用户、部门与第三方 SaaS 系统同步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交付任务、验收确认、售后和状态跟踪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293608" y="3145536"/>
            <a:ext cx="3227832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支撑标准化、可追踪、可审计交付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02920" y="3593592"/>
            <a:ext cx="35661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02920" y="3593592"/>
            <a:ext cx="3566160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" y="3630168"/>
            <a:ext cx="323697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清算管理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67512" y="4032504"/>
            <a:ext cx="3236976" cy="64008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平台服务费、提供方和数据服务方分成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专家费、渠道费、税费等多方费用计算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订单支付、退款和分账追回/抵扣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清算单、台账、调整、锁定和复核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67512" y="4654296"/>
            <a:ext cx="3236976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确保交易金额可计算、可核对、可追溯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315968" y="3593592"/>
            <a:ext cx="35661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3970">
            <a:solidFill>
              <a:srgbClr val="64748B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315968" y="3593592"/>
            <a:ext cx="3566160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80560" y="3630168"/>
            <a:ext cx="323697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审计管理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480560" y="4032504"/>
            <a:ext cx="3236976" cy="64008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登录、认证、权限、产品和订单操作留痕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发布、凭据、交付、退款和清算审计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按租户、用户、资源和时间检索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异常访问、网关错误和告警关联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480560" y="4654296"/>
            <a:ext cx="3236976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形成业务、技术和安全合规证据链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129016" y="3593592"/>
            <a:ext cx="3557016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3970">
            <a:solidFill>
              <a:srgbClr val="EC4899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129016" y="3593592"/>
            <a:ext cx="3557016" cy="310896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93608" y="3630168"/>
            <a:ext cx="322783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运营平台服务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293608" y="4032504"/>
            <a:ext cx="3227832" cy="64008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平台运营、审核、质量、安全和交付角色协同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产品、订单、交付、清算和审计工作台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网关路由、版本、凭据和调用统计管理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任务进度控制台、配置中心和运营看板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293608" y="4654296"/>
            <a:ext cx="3227832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提供统一运营入口和业务协同能力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02920" y="5102352"/>
            <a:ext cx="111556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三、SLA 保障与基础设施层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02920" y="5330952"/>
            <a:ext cx="27432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3970">
            <a:solidFill>
              <a:srgbClr val="86EFAC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02920" y="5330952"/>
            <a:ext cx="2743200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7512" y="5367528"/>
            <a:ext cx="241401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SLA 保障功能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67512" y="5769864"/>
            <a:ext cx="2414016" cy="27432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健康检查、可用性、错误率和延迟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限流、配额、超时、重试和统一错误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告警、灰度、回退和故障恢复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456432" y="5330952"/>
            <a:ext cx="27432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3970">
            <a:solidFill>
              <a:srgbClr val="86EFAC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456432" y="5330952"/>
            <a:ext cx="2743200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21024" y="5367528"/>
            <a:ext cx="241401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高可用与安全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3621024" y="5769864"/>
            <a:ext cx="2414016" cy="27432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Kubernetes、APISIX 多副本和负载均衡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OAuth2、API Key、密码机和访问控制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Redis 共享缓存、网络隔离和安全策略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409944" y="5330952"/>
            <a:ext cx="27432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3970">
            <a:solidFill>
              <a:srgbClr val="86EFAC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409944" y="5330952"/>
            <a:ext cx="2743200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74536" y="5367528"/>
            <a:ext cx="241401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数据与存储支撑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6574536" y="5769864"/>
            <a:ext cx="2414016" cy="27432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PostgreSQL 业务和审计数据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MinIO 文件、数据集和交付对象存储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Redis 配额、Token 和分布式状态缓存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9363456" y="5330952"/>
            <a:ext cx="2322576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3970">
            <a:solidFill>
              <a:srgbClr val="86EFAC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9363456" y="5330952"/>
            <a:ext cx="2322576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528048" y="5367528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监控与运营保障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9528048" y="5769864"/>
            <a:ext cx="1993392" cy="27432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Prometheus 指标、Alertmanager 告警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网关路由、发布、调用和运行日志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SLA 报表、审计追踪和运维闭环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645920" y="175564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3657600" y="175564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5669280" y="175564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7680960" y="175564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10058400" y="175564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4069080" y="2734056"/>
            <a:ext cx="21031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7882128" y="2734056"/>
            <a:ext cx="21031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4069080" y="4242816"/>
            <a:ext cx="21031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7882128" y="4242816"/>
            <a:ext cx="21031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1828800" y="489204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5669280" y="489204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9875520" y="489204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9" name="Text 87"/>
          <p:cNvSpPr/>
          <p:nvPr/>
        </p:nvSpPr>
        <p:spPr>
          <a:xfrm>
            <a:off x="3840480" y="6565392"/>
            <a:ext cx="44805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图：当前数据集运营服务管理平台功能架构图（可编辑版）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59"/>
          <p:cNvSpPr/>
          <p:nvPr/>
        </p:nvSpPr>
        <p:spPr>
          <a:xfrm>
            <a:off x="502920" y="5432425"/>
            <a:ext cx="11173460" cy="1299210"/>
          </a:xfrm>
          <a:prstGeom prst="roundRect">
            <a:avLst>
              <a:gd name="adj" fmla="val 9804"/>
            </a:avLst>
          </a:prstGeom>
          <a:solidFill>
            <a:srgbClr val="F0FDF4"/>
          </a:solidFill>
          <a:ln w="13970">
            <a:solidFill>
              <a:srgbClr val="86EFAC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321945"/>
            <a:ext cx="11182985" cy="934085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105" y="421005"/>
            <a:ext cx="1874520" cy="728345"/>
          </a:xfrm>
          <a:prstGeom prst="roundRect">
            <a:avLst>
              <a:gd name="adj" fmla="val 7152"/>
            </a:avLst>
          </a:prstGeom>
          <a:solidFill>
            <a:srgbClr val="FFFFFF"/>
          </a:solidFill>
          <a:ln w="13970">
            <a:solidFill>
              <a:srgbClr val="93C5FD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6879" y="446151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用户与企业服务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0110" y="713740"/>
            <a:ext cx="1602105" cy="36195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注册、实名认证、企业认证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成员、企业角色和邀请</a:t>
            </a:r>
            <a:endParaRPr lang="en-US" sz="10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24785" y="420370"/>
            <a:ext cx="1874520" cy="728345"/>
          </a:xfrm>
          <a:prstGeom prst="roundRect">
            <a:avLst>
              <a:gd name="adj" fmla="val 7911"/>
            </a:avLst>
          </a:prstGeom>
          <a:solidFill>
            <a:srgbClr val="FFFFFF"/>
          </a:solidFill>
          <a:ln w="13970">
            <a:solidFill>
              <a:srgbClr val="93C5FD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89504" y="446151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统一权限与多租户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9250" y="713740"/>
            <a:ext cx="1545590" cy="31115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企业主租户、平台 RBAC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数据隔离和操作授权</a:t>
            </a:r>
            <a:endParaRPr lang="en-US" sz="10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36465" y="420370"/>
            <a:ext cx="1874520" cy="727710"/>
          </a:xfrm>
          <a:prstGeom prst="roundRect">
            <a:avLst>
              <a:gd name="adj" fmla="val 8605"/>
            </a:avLst>
          </a:prstGeom>
          <a:solidFill>
            <a:srgbClr val="FFFFFF"/>
          </a:solidFill>
          <a:ln w="13970">
            <a:solidFill>
              <a:srgbClr val="93C5FD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454" y="446151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 API 网关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00930" y="713740"/>
            <a:ext cx="1602105" cy="365125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OAuth2、API Key、路由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限流、配额和调用统计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748145" y="419735"/>
            <a:ext cx="1874520" cy="728980"/>
          </a:xfrm>
          <a:prstGeom prst="roundRect">
            <a:avLst>
              <a:gd name="adj" fmla="val 7905"/>
            </a:avLst>
          </a:prstGeom>
          <a:solidFill>
            <a:srgbClr val="FFFFFF"/>
          </a:solidFill>
          <a:ln w="13970">
            <a:solidFill>
              <a:srgbClr val="93C5FD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29780" y="446405"/>
            <a:ext cx="133794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通知与配置中心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12610" y="713740"/>
            <a:ext cx="1597025" cy="36576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短信/邮件、平台角色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消息通知和系统参数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759825" y="419735"/>
            <a:ext cx="2633345" cy="728980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13970">
            <a:solidFill>
              <a:srgbClr val="93C5FD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18625" y="446405"/>
            <a:ext cx="1687195" cy="2146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对外接口服务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05875" y="713740"/>
            <a:ext cx="2413635" cy="368935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接入连接器适配、资源发布与鉴权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回调、接口文档和审计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2920" y="1684655"/>
            <a:ext cx="3566160" cy="1514475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3970">
            <a:solidFill>
              <a:srgbClr val="60A5FA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7385" y="1994535"/>
            <a:ext cx="3237230" cy="984885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数据集、模型、API、SaaS、报告及咨询登记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目录、元数据、版本、价格和交付方式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产品审核、质量审核、安全合规和上架发布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API/SaaS 对接规范、OAuth 凭据和网关配置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7385" y="2961640"/>
            <a:ext cx="3237230" cy="2228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面向数据/服务提供方与平台运营人员</a:t>
            </a:r>
            <a:endParaRPr lang="en-US" sz="1000" b="1" i="1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16095" y="1684655"/>
            <a:ext cx="3566160" cy="1514475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3970">
            <a:solidFill>
              <a:srgbClr val="8B5CF6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480560" y="1993900"/>
            <a:ext cx="3237230" cy="98552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购物车、订单创建、取消、支付单和人工确认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订单、支付、交付、售后四域状态机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订阅开通、续费、升级/降级及差价计算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退款、原路退回、订单授权和访问回收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434840" y="2986786"/>
            <a:ext cx="3236976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面向已实名个人用户与企业租户</a:t>
            </a:r>
            <a:endParaRPr lang="en-US" sz="1000" b="1" i="1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129270" y="1691005"/>
            <a:ext cx="3557270" cy="1508125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293735" y="2006600"/>
            <a:ext cx="3227705" cy="97282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文件、对象存储、API、模型 API 交付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SaaS 租户开通、版本切换和权限开通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用户、部门与第三方 SaaS 系统同步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交付任务、验收确认、售后和状态跟踪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293608" y="3017266"/>
            <a:ext cx="3227832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支撑标准化、可追踪、可审计交付</a:t>
            </a:r>
            <a:endParaRPr lang="en-US" sz="1000" b="1" i="1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02920" y="3593465"/>
            <a:ext cx="3566160" cy="1514475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67385" y="3907155"/>
            <a:ext cx="3237230" cy="102235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平台服务费、提供方和数据</a:t>
            </a: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服务方分成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专家费、渠道费、税费等多方费用计算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订单支付、退款和分账追回/抵扣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清算单、台账、调整、锁定和复核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02107" y="4929251"/>
            <a:ext cx="3236976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确保交易金额可计算、可核对、可追溯</a:t>
            </a:r>
            <a:endParaRPr lang="en-US" sz="1000" b="1" i="1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316095" y="3593465"/>
            <a:ext cx="3566160" cy="1518285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3970">
            <a:solidFill>
              <a:srgbClr val="64748B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480560" y="3901440"/>
            <a:ext cx="3237230" cy="99060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登录、认证、权限、产品和订单操作留痕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发布、凭据、交付、退款和清算审计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按租户、用户、资源和时间检索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异常访问、网关错误和告警关联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480560" y="4929251"/>
            <a:ext cx="3236976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形成业务、技术和安全合规证据链</a:t>
            </a:r>
            <a:endParaRPr lang="en-US" sz="1000" b="1" i="1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129270" y="3593465"/>
            <a:ext cx="3557270" cy="1518285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3970">
            <a:solidFill>
              <a:srgbClr val="EC4899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293735" y="3905885"/>
            <a:ext cx="3227705" cy="104140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平台运营、审核、质量、安全和交付角色协同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产品、订单、交付、清算和审计工作台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网关路由、版本、凭据和调用统计管理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任务进度控制台、配置中心和运营看板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293608" y="4929251"/>
            <a:ext cx="3227832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提供统一运营入口和业务协同能力</a:t>
            </a:r>
            <a:endParaRPr lang="en-US" sz="1000" b="1" i="1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42620" y="5554345"/>
            <a:ext cx="2743200" cy="105918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3970">
            <a:solidFill>
              <a:srgbClr val="86EFAC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807085" y="5865495"/>
            <a:ext cx="2414270" cy="72136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健康检查、可用性、错误率和延迟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限流、配额、超时、重试和统一错误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告警、灰度、回退和故障恢复</a:t>
            </a:r>
            <a:endParaRPr lang="en-US" sz="10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3494405" y="5554345"/>
            <a:ext cx="2743200" cy="105918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3970">
            <a:solidFill>
              <a:srgbClr val="86EFAC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3658870" y="5854700"/>
            <a:ext cx="2414270" cy="732155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Kubernetes、APISIX 多副本和负载均衡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OAuth2、API Key、密码机和访问控制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Redis 共享缓存、网络隔离和安全策略</a:t>
            </a:r>
            <a:endParaRPr lang="en-US" sz="10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6365240" y="5554345"/>
            <a:ext cx="2743200" cy="1059815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3970">
            <a:solidFill>
              <a:srgbClr val="86EFAC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6530340" y="5873750"/>
            <a:ext cx="2414270" cy="39370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PostgreSQL 业务和审计数据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MinIO 文件、数据集和交付对象存储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Redis 配额、Token 和分布式状态缓存</a:t>
            </a:r>
            <a:endParaRPr lang="en-US" sz="10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9262110" y="5554345"/>
            <a:ext cx="2322830" cy="105918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3970">
            <a:solidFill>
              <a:srgbClr val="86EFAC"/>
            </a:solidFill>
            <a:prstDash val="solid"/>
          </a:ln>
          <a:effectLst>
            <a:outerShdw blurRad="25400" dist="50800" dir="2700000" algn="bl" rotWithShape="0">
              <a:srgbClr val="172554">
                <a:alpha val="1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9279255" y="5864860"/>
            <a:ext cx="2341880" cy="490220"/>
          </a:xfrm>
          <a:prstGeom prst="rect">
            <a:avLst/>
          </a:prstGeom>
          <a:noFill/>
        </p:spPr>
        <p:txBody>
          <a:bodyPr wrap="square" lIns="127" tIns="127" rIns="127" bIns="127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Prometheus指标、Alertmanager告警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网关路由、发布、调用和运行日志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SLA 报表、审计追踪和运维闭环</a:t>
            </a:r>
            <a:endParaRPr lang="en-US" sz="1000" dirty="0">
              <a:solidFill>
                <a:srgbClr val="3341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7" name="Shape 75"/>
          <p:cNvSpPr/>
          <p:nvPr/>
        </p:nvSpPr>
        <p:spPr>
          <a:xfrm flipH="1">
            <a:off x="1647190" y="1251585"/>
            <a:ext cx="5715" cy="4394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 flipV="1">
            <a:off x="4069080" y="2550795"/>
            <a:ext cx="247650" cy="50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7882255" y="2550160"/>
            <a:ext cx="240030" cy="635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4069080" y="4243070"/>
            <a:ext cx="247650" cy="635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7882255" y="4243070"/>
            <a:ext cx="255905" cy="635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1828800" y="5112385"/>
            <a:ext cx="635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6237605" y="5111750"/>
            <a:ext cx="635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9875520" y="510159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0" name="文本框 89"/>
          <p:cNvSpPr txBox="1"/>
          <p:nvPr/>
        </p:nvSpPr>
        <p:spPr>
          <a:xfrm>
            <a:off x="39370" y="614045"/>
            <a:ext cx="397510" cy="105918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平台服务层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9370" y="2713355"/>
            <a:ext cx="398145" cy="169100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核心业务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功能层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39370" y="5293360"/>
            <a:ext cx="397510" cy="150876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SLA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保障及基础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设施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同侧圆角矩形 93"/>
          <p:cNvSpPr/>
          <p:nvPr/>
        </p:nvSpPr>
        <p:spPr>
          <a:xfrm>
            <a:off x="4323715" y="1697355"/>
            <a:ext cx="3543300" cy="303530"/>
          </a:xfrm>
          <a:prstGeom prst="round2SameRect">
            <a:avLst>
              <a:gd name="adj1" fmla="val 28659"/>
              <a:gd name="adj2" fmla="val 0"/>
            </a:avLst>
          </a:prstGeom>
          <a:solidFill>
            <a:srgbClr val="EDE9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同侧圆角矩形 94"/>
          <p:cNvSpPr/>
          <p:nvPr/>
        </p:nvSpPr>
        <p:spPr>
          <a:xfrm>
            <a:off x="8133715" y="1702435"/>
            <a:ext cx="3543300" cy="303530"/>
          </a:xfrm>
          <a:prstGeom prst="round2SameRect">
            <a:avLst>
              <a:gd name="adj1" fmla="val 28659"/>
              <a:gd name="adj2" fmla="val 0"/>
            </a:avLst>
          </a:prstGeom>
          <a:solidFill>
            <a:srgbClr val="CCFBF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480560" y="1727835"/>
            <a:ext cx="120015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订单管理</a:t>
            </a:r>
            <a:endParaRPr lang="en-US" sz="1300" dirty="0"/>
          </a:p>
        </p:txBody>
      </p:sp>
      <p:sp>
        <p:nvSpPr>
          <p:cNvPr id="96" name="同侧圆角矩形 95"/>
          <p:cNvSpPr/>
          <p:nvPr/>
        </p:nvSpPr>
        <p:spPr>
          <a:xfrm>
            <a:off x="8138160" y="3602355"/>
            <a:ext cx="3543300" cy="303530"/>
          </a:xfrm>
          <a:prstGeom prst="round2SameRect">
            <a:avLst>
              <a:gd name="adj1" fmla="val 28659"/>
              <a:gd name="adj2" fmla="val 0"/>
            </a:avLst>
          </a:prstGeom>
          <a:solidFill>
            <a:srgbClr val="FCE7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293608" y="1734058"/>
            <a:ext cx="322783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数据及服务交付管理</a:t>
            </a:r>
            <a:endParaRPr lang="en-US" sz="1300" dirty="0"/>
          </a:p>
        </p:txBody>
      </p:sp>
      <p:sp>
        <p:nvSpPr>
          <p:cNvPr id="97" name="同侧圆角矩形 96"/>
          <p:cNvSpPr/>
          <p:nvPr/>
        </p:nvSpPr>
        <p:spPr>
          <a:xfrm>
            <a:off x="4329430" y="3602355"/>
            <a:ext cx="3543300" cy="303530"/>
          </a:xfrm>
          <a:prstGeom prst="round2SameRect">
            <a:avLst>
              <a:gd name="adj1" fmla="val 28659"/>
              <a:gd name="adj2" fmla="val 0"/>
            </a:avLst>
          </a:prstGeom>
          <a:solidFill>
            <a:srgbClr val="E2E8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293735" y="3630295"/>
            <a:ext cx="241490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运营平台服务</a:t>
            </a:r>
            <a:endParaRPr lang="en-US" sz="1300" dirty="0"/>
          </a:p>
        </p:txBody>
      </p:sp>
      <p:sp>
        <p:nvSpPr>
          <p:cNvPr id="98" name="同侧圆角矩形 97"/>
          <p:cNvSpPr/>
          <p:nvPr/>
        </p:nvSpPr>
        <p:spPr>
          <a:xfrm>
            <a:off x="507365" y="3603625"/>
            <a:ext cx="3543300" cy="303530"/>
          </a:xfrm>
          <a:prstGeom prst="round2SameRect">
            <a:avLst>
              <a:gd name="adj1" fmla="val 28659"/>
              <a:gd name="adj2" fmla="val 0"/>
            </a:avLst>
          </a:prstGeom>
          <a:solidFill>
            <a:srgbClr val="FEF3C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4480560" y="3630295"/>
            <a:ext cx="214693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审计管理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67385" y="3630295"/>
            <a:ext cx="16027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清算管理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07085" y="5591175"/>
            <a:ext cx="1873885" cy="2413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SLA 保障功能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9426575" y="5591175"/>
            <a:ext cx="139573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监控与运营保障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3658870" y="5591175"/>
            <a:ext cx="141351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高可用与安全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530340" y="5591175"/>
            <a:ext cx="153289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数据与存储支撑</a:t>
            </a:r>
            <a:endParaRPr lang="en-US" sz="1300" dirty="0"/>
          </a:p>
        </p:txBody>
      </p:sp>
      <p:sp>
        <p:nvSpPr>
          <p:cNvPr id="107" name="同侧圆角矩形 106"/>
          <p:cNvSpPr/>
          <p:nvPr/>
        </p:nvSpPr>
        <p:spPr>
          <a:xfrm>
            <a:off x="519430" y="1691005"/>
            <a:ext cx="3543300" cy="303530"/>
          </a:xfrm>
          <a:prstGeom prst="round2SameRect">
            <a:avLst>
              <a:gd name="adj1" fmla="val 28659"/>
              <a:gd name="adj2" fmla="val 0"/>
            </a:avLst>
          </a:prstGeom>
          <a:solidFill>
            <a:srgbClr val="D1E5F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36397" y="1727708"/>
            <a:ext cx="323697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数据及服务管理</a:t>
            </a:r>
            <a:endParaRPr lang="en-US" sz="1300" dirty="0"/>
          </a:p>
        </p:txBody>
      </p:sp>
      <p:sp>
        <p:nvSpPr>
          <p:cNvPr id="108" name="Shape 81"/>
          <p:cNvSpPr/>
          <p:nvPr/>
        </p:nvSpPr>
        <p:spPr>
          <a:xfrm flipH="1">
            <a:off x="6071235" y="3199130"/>
            <a:ext cx="1270" cy="3937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9" name="Shape 81"/>
          <p:cNvSpPr/>
          <p:nvPr/>
        </p:nvSpPr>
        <p:spPr>
          <a:xfrm>
            <a:off x="9875520" y="3216910"/>
            <a:ext cx="635" cy="376555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0" name="Shape 75"/>
          <p:cNvSpPr/>
          <p:nvPr/>
        </p:nvSpPr>
        <p:spPr>
          <a:xfrm>
            <a:off x="5995035" y="1256665"/>
            <a:ext cx="635" cy="44577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1" name="Shape 75"/>
          <p:cNvSpPr/>
          <p:nvPr/>
        </p:nvSpPr>
        <p:spPr>
          <a:xfrm>
            <a:off x="10015220" y="1256665"/>
            <a:ext cx="635" cy="44577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2228</Words>
  <Application>WPS 演示</Application>
  <PresentationFormat>On-screen Show (16:9)</PresentationFormat>
  <Paragraphs>226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</vt:vector>
  </TitlesOfParts>
  <Company>天地奔牛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数据集运营服务管理平台功能架构</dc:title>
  <dc:creator>Codex</dc:creator>
  <dc:subject>数据集运营服务管理平台功能架构</dc:subject>
  <cp:lastModifiedBy>王吉忠</cp:lastModifiedBy>
  <cp:revision>3</cp:revision>
  <dcterms:created xsi:type="dcterms:W3CDTF">2026-10-06T08:32:00Z</dcterms:created>
  <dcterms:modified xsi:type="dcterms:W3CDTF">2026-10-06T11:13:49Z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044990A322AC47BB8EDEDCE90FFC721F_13</vt:lpwstr>
  </property>
</Properties>
</file>